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purpose of CMCS and the motivation behind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stack and justify technology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improved lecturer experience and reduced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efficiency gained in managing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HR improvements and real-world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the full scope of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business value and measurable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Contract Monthly Claim System (CMCS)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Automation • Workflow • System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System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Digitize monthly claim submissions</a:t>
            </a:r>
          </a:p>
          <a:p>
            <a:pPr>
              <a:defRPr sz="2000"/>
            </a:pPr>
            <a:r>
              <a:t>Automate validation &amp; approval workflows</a:t>
            </a:r>
          </a:p>
          <a:p>
            <a:pPr>
              <a:defRPr sz="2000"/>
            </a:pPr>
            <a:r>
              <a:t>Improve HR reporting &amp; compliance</a:t>
            </a:r>
          </a:p>
          <a:p>
            <a:pPr>
              <a:defRPr sz="2000"/>
            </a:pPr>
            <a:r>
              <a:t>Reduce manual errors and administrative workload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Core Technologies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ASP.NET Core MVC application</a:t>
            </a:r>
          </a:p>
          <a:p>
            <a:pPr>
              <a:defRPr sz="2000"/>
            </a:pPr>
            <a:r>
              <a:t>Entity Framework Core for data access</a:t>
            </a:r>
          </a:p>
          <a:p>
            <a:pPr>
              <a:defRPr sz="2000"/>
            </a:pPr>
            <a:r>
              <a:t>ASP.NET Identity for user management</a:t>
            </a:r>
          </a:p>
          <a:p>
            <a:pPr>
              <a:defRPr sz="2000"/>
            </a:pPr>
            <a:r>
              <a:t>jQuery for UI automation and validation</a:t>
            </a:r>
          </a:p>
          <a:p>
            <a:pPr>
              <a:defRPr sz="2000"/>
            </a:pPr>
            <a:r>
              <a:t>CSV reporting engine for 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System Workflow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11680" cy="731520"/>
          </a:xfrm>
          <a:prstGeom prst="roundRect">
            <a:avLst/>
          </a:prstGeom>
          <a:solidFill>
            <a:srgbClr val="3C8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Lecturer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011680" cy="731520"/>
          </a:xfrm>
          <a:prstGeom prst="roundRect">
            <a:avLst/>
          </a:prstGeom>
          <a:solidFill>
            <a:srgbClr val="3C8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Coordinator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011680" cy="731520"/>
          </a:xfrm>
          <a:prstGeom prst="roundRect">
            <a:avLst/>
          </a:prstGeom>
          <a:solidFill>
            <a:srgbClr val="3C8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2011680" cy="731520"/>
          </a:xfrm>
          <a:prstGeom prst="roundRect">
            <a:avLst/>
          </a:prstGeom>
          <a:solidFill>
            <a:srgbClr val="3C8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Lecturer Automation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Auto-calculation of totals (JS + server validation)</a:t>
            </a:r>
          </a:p>
          <a:p>
            <a:pPr>
              <a:defRPr sz="2000"/>
            </a:pPr>
            <a:r>
              <a:t>FluentValidation for rule enforcement</a:t>
            </a:r>
          </a:p>
          <a:p>
            <a:pPr>
              <a:defRPr sz="2000"/>
            </a:pPr>
            <a:r>
              <a:t>File uploading for supporting documents</a:t>
            </a:r>
          </a:p>
          <a:p>
            <a:pPr>
              <a:defRPr sz="2000"/>
            </a:pPr>
            <a:r>
              <a:t>Real-time feedback on claim correctness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Coordinator / Manager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Pending claims dashboard</a:t>
            </a:r>
          </a:p>
          <a:p>
            <a:pPr>
              <a:defRPr sz="2000"/>
            </a:pPr>
            <a:r>
              <a:t>Policy violation flagging</a:t>
            </a:r>
          </a:p>
          <a:p>
            <a:pPr>
              <a:defRPr sz="2000"/>
            </a:pPr>
            <a:r>
              <a:t>Approval &amp; rejection workflow</a:t>
            </a:r>
          </a:p>
          <a:p>
            <a:pPr>
              <a:defRPr sz="2000"/>
            </a:pPr>
            <a:r>
              <a:t>Automated notifications &amp; escalations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HR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CSV export for payroll integration</a:t>
            </a:r>
          </a:p>
          <a:p>
            <a:pPr>
              <a:defRPr sz="2000"/>
            </a:pPr>
            <a:r>
              <a:t>Lecturer information management</a:t>
            </a:r>
          </a:p>
          <a:p>
            <a:pPr>
              <a:defRPr sz="2000"/>
            </a:pPr>
            <a:r>
              <a:t>Access to validated and approved claims</a:t>
            </a:r>
          </a:p>
          <a:p>
            <a:pPr>
              <a:defRPr sz="2000"/>
            </a:pPr>
            <a:r>
              <a:t>Reduction in manual consolidation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Automation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Client &amp; server-level automation</a:t>
            </a:r>
          </a:p>
          <a:p>
            <a:pPr>
              <a:defRPr sz="2000"/>
            </a:pPr>
            <a:r>
              <a:t>Workflow-based decision handling</a:t>
            </a:r>
          </a:p>
          <a:p>
            <a:pPr>
              <a:defRPr sz="2000"/>
            </a:pPr>
            <a:r>
              <a:t>Integrated policy checks</a:t>
            </a:r>
          </a:p>
          <a:p>
            <a:pPr>
              <a:defRPr sz="2000"/>
            </a:pPr>
            <a:r>
              <a:t>End-to-end lifecycle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3782"/>
                </a:solidFill>
              </a:defRPr>
            </a:pPr>
            <a:r>
              <a:t>Benefits of CMCS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Reduced processing time</a:t>
            </a:r>
          </a:p>
          <a:p>
            <a:pPr>
              <a:defRPr sz="2000"/>
            </a:pPr>
            <a:r>
              <a:t>Higher accuracy in submissions</a:t>
            </a:r>
          </a:p>
          <a:p>
            <a:pPr>
              <a:defRPr sz="2000"/>
            </a:pPr>
            <a:r>
              <a:t>Lower administrative load</a:t>
            </a:r>
          </a:p>
          <a:p>
            <a:pPr>
              <a:defRPr sz="2000"/>
            </a:pPr>
            <a:r>
              <a:t>Better compliance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